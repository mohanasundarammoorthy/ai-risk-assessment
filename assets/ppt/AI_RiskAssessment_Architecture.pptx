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>
        <p:scale>
          <a:sx n="143" d="100"/>
          <a:sy n="143" d="100"/>
        </p:scale>
        <p:origin x="38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9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9768"/>
            <a:ext cx="1216152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 —  Risk Assessment Request Flow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i="1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LLM: </a:t>
            </a:r>
            <a:r>
              <a:rPr lang="en-GB" sz="800" i="1" dirty="0">
                <a:solidFill>
                  <a:srgbClr val="90CAF9"/>
                </a:solidFill>
                <a:latin typeface="Calibri Light" pitchFamily="34" charset="0"/>
                <a:cs typeface="Calibri Light" pitchFamily="34" charset="-120"/>
              </a:rPr>
              <a:t>LLM supports guided question flow using retrieved policy context</a:t>
            </a:r>
            <a:r>
              <a:rPr lang="en-US" sz="800" i="1" dirty="0">
                <a:solidFill>
                  <a:srgbClr val="90CAF9"/>
                </a:solidFill>
                <a:latin typeface="Calibri Light" pitchFamily="34" charset="0"/>
                <a:cs typeface="Calibri Light" pitchFamily="34" charset="-120"/>
              </a:rPr>
              <a:t>·  </a:t>
            </a:r>
            <a:r>
              <a:rPr lang="en-US" sz="800" i="1" dirty="0">
                <a:solidFill>
                  <a:srgbClr val="90CA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Rules Engine: All Scoring &amp; Decisions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" y="465508"/>
            <a:ext cx="12161520" cy="987552"/>
          </a:xfrm>
          <a:prstGeom prst="rect">
            <a:avLst/>
          </a:prstGeom>
          <a:solidFill>
            <a:srgbClr val="EBF3FB"/>
          </a:solidFill>
          <a:ln w="381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2064"/>
            <a:ext cx="1005840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" y="51206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1554480"/>
            <a:ext cx="12161520" cy="1188720"/>
          </a:xfrm>
          <a:prstGeom prst="rect">
            <a:avLst/>
          </a:prstGeom>
          <a:solidFill>
            <a:srgbClr val="E0F7FA"/>
          </a:solidFill>
          <a:ln w="381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1005840" cy="11887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" y="1554480"/>
            <a:ext cx="987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0" y="2798064"/>
            <a:ext cx="12161520" cy="237744"/>
          </a:xfrm>
          <a:prstGeom prst="rect">
            <a:avLst/>
          </a:prstGeom>
          <a:solidFill>
            <a:srgbClr val="FFF0F0"/>
          </a:solidFill>
          <a:ln w="38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2798064"/>
            <a:ext cx="100584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" y="279806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3035808"/>
            <a:ext cx="12161520" cy="1115568"/>
          </a:xfrm>
          <a:prstGeom prst="rect">
            <a:avLst/>
          </a:prstGeom>
          <a:solidFill>
            <a:srgbClr val="FFF5F5"/>
          </a:solidFill>
          <a:ln w="381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035808"/>
            <a:ext cx="1005840" cy="11155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" y="3035808"/>
            <a:ext cx="987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206240"/>
            <a:ext cx="12161520" cy="1005840"/>
          </a:xfrm>
          <a:prstGeom prst="rect">
            <a:avLst/>
          </a:prstGeom>
          <a:solidFill>
            <a:srgbClr val="E8F5E9"/>
          </a:solidFill>
          <a:ln w="381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206240"/>
            <a:ext cx="100584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" y="4206240"/>
            <a:ext cx="987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0" y="5266944"/>
            <a:ext cx="12161520" cy="548640"/>
          </a:xfrm>
          <a:prstGeom prst="rect">
            <a:avLst/>
          </a:prstGeom>
          <a:solidFill>
            <a:srgbClr val="FFF3E0"/>
          </a:solidFill>
          <a:ln w="381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5266944"/>
            <a:ext cx="100584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" y="5266944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97280" y="279806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DETERMINISTIC BOUNDARY  —  Below this line: all scoring, risk tier assignment and compliance decisions are handled exclusively by deterministic Python code. The LLM has NO access or influence.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78992" y="585216"/>
            <a:ext cx="1627632" cy="749808"/>
          </a:xfrm>
          <a:prstGeom prst="rect">
            <a:avLst/>
          </a:prstGeom>
          <a:solidFill>
            <a:srgbClr val="E8F0FE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78992" y="585216"/>
            <a:ext cx="162763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52144" y="658368"/>
            <a:ext cx="1499616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Developer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52144" y="960120"/>
            <a:ext cx="1499616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 interface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(React / Angular)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871216" y="585216"/>
            <a:ext cx="1627632" cy="749808"/>
          </a:xfrm>
          <a:prstGeom prst="rect">
            <a:avLst/>
          </a:prstGeom>
          <a:solidFill>
            <a:srgbClr val="E8F0FE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71216" y="585216"/>
            <a:ext cx="162763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44368" y="658368"/>
            <a:ext cx="1499616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44368" y="960120"/>
            <a:ext cx="1499616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APIM / AWS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Gateway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63440" y="585216"/>
            <a:ext cx="1627632" cy="749808"/>
          </a:xfrm>
          <a:prstGeom prst="rect">
            <a:avLst/>
          </a:prstGeom>
          <a:solidFill>
            <a:srgbClr val="ECEFF1"/>
          </a:solidFill>
          <a:ln w="10160">
            <a:solidFill>
              <a:srgbClr val="455A6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585216"/>
            <a:ext cx="1627632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658368"/>
            <a:ext cx="1499616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960120"/>
            <a:ext cx="1499616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Entra ID / Cognito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OAuth 2.0  ·  MFA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55664" y="585216"/>
            <a:ext cx="1627632" cy="749808"/>
          </a:xfrm>
          <a:prstGeom prst="rect">
            <a:avLst/>
          </a:prstGeom>
          <a:solidFill>
            <a:srgbClr val="E0F7FA"/>
          </a:solidFill>
          <a:ln w="10160">
            <a:solidFill>
              <a:srgbClr val="00606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55664" y="585216"/>
            <a:ext cx="1627632" cy="457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28816" y="658368"/>
            <a:ext cx="1499616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Controller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28816" y="960120"/>
            <a:ext cx="1499616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 controller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state machine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24912" y="960120"/>
            <a:ext cx="128016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61488" y="896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565C0"/>
                </a:solidFill>
              </a:rPr>
              <a:t>►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517136" y="960120"/>
            <a:ext cx="128016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53712" y="896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565C0"/>
                </a:solidFill>
              </a:rPr>
              <a:t>►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309360" y="960120"/>
            <a:ext cx="128016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45936" y="896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565C0"/>
                </a:solidFill>
              </a:rPr>
              <a:t>►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654296" y="501940"/>
            <a:ext cx="1627632" cy="219456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45152" y="2926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901184" y="475161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access required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599714" y="1700784"/>
            <a:ext cx="1920240" cy="932688"/>
          </a:xfrm>
          <a:prstGeom prst="rect">
            <a:avLst/>
          </a:prstGeom>
          <a:solidFill>
            <a:srgbClr val="E0F7FA"/>
          </a:solidFill>
          <a:ln w="10160">
            <a:solidFill>
              <a:srgbClr val="006064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586215" y="1699094"/>
            <a:ext cx="1920240" cy="457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18219" y="1728215"/>
            <a:ext cx="179222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50223" y="2130552"/>
            <a:ext cx="179222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OpenAI / Bedrock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Q&amp;A ONLY — no scoring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63056" y="1645920"/>
            <a:ext cx="1920240" cy="932688"/>
          </a:xfrm>
          <a:prstGeom prst="rect">
            <a:avLst/>
          </a:prstGeom>
          <a:solidFill>
            <a:srgbClr val="EDE7F6"/>
          </a:solidFill>
          <a:ln w="10160">
            <a:solidFill>
              <a:srgbClr val="4527A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163056" y="1645920"/>
            <a:ext cx="1920240" cy="457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1719072"/>
            <a:ext cx="179222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36208" y="2112264"/>
            <a:ext cx="179222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Blob / S3 + AI Search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</a:t>
            </a:r>
            <a:r>
              <a:rPr lang="en-GB" sz="700" dirty="0">
                <a:solidFill>
                  <a:srgbClr val="546E7A"/>
                </a:solidFill>
                <a:latin typeface="Calibri Light" pitchFamily="34" charset="0"/>
                <a:cs typeface="Calibri Light" pitchFamily="34" charset="-120"/>
              </a:rPr>
              <a:t>Page-indexed retrieval (section-based, optional semantic support)</a:t>
            </a:r>
            <a:endParaRPr lang="en-US" sz="700" dirty="0">
              <a:solidFill>
                <a:srgbClr val="546E7A"/>
              </a:solidFill>
              <a:latin typeface="Calibri Light" pitchFamily="34" charset="0"/>
              <a:cs typeface="Calibri Light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78992" y="1645920"/>
            <a:ext cx="1920240" cy="932688"/>
          </a:xfrm>
          <a:prstGeom prst="rect">
            <a:avLst/>
          </a:prstGeom>
          <a:solidFill>
            <a:srgbClr val="EDE7F6"/>
          </a:solidFill>
          <a:ln w="10160">
            <a:solidFill>
              <a:srgbClr val="4527A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78992" y="1645920"/>
            <a:ext cx="1920240" cy="457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152144" y="1719072"/>
            <a:ext cx="179222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52144" y="2112264"/>
            <a:ext cx="179222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Bias Tool  ·  Govt Advice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Appendix I–IV  ·  Orange Book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436608" y="1719072"/>
            <a:ext cx="713232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436608" y="171907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SCORING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 flipV="1">
            <a:off x="8101584" y="2111023"/>
            <a:ext cx="365760" cy="1241"/>
          </a:xfrm>
          <a:prstGeom prst="line">
            <a:avLst/>
          </a:prstGeom>
          <a:noFill/>
          <a:ln w="1524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193024" y="20482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861226" y="1975431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4527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injected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3017520" y="2112264"/>
            <a:ext cx="3127248" cy="0"/>
          </a:xfrm>
          <a:prstGeom prst="line">
            <a:avLst/>
          </a:prstGeom>
          <a:noFill/>
          <a:ln w="1524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53328" y="20482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527A0"/>
                </a:solidFill>
              </a:rPr>
              <a:t>►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123944" y="19659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4527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page index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7269480" y="1353312"/>
            <a:ext cx="0" cy="274320"/>
          </a:xfrm>
          <a:prstGeom prst="line">
            <a:avLst/>
          </a:prstGeom>
          <a:noFill/>
          <a:ln w="1524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205472" y="15361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6064"/>
                </a:solidFill>
              </a:rPr>
              <a:t>▼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102008" y="14081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0060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8193024" y="2048256"/>
            <a:ext cx="571500" cy="12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6064"/>
                </a:solidFill>
              </a:rPr>
              <a:t>►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831618" y="217470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0060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orchestrates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9262872" y="1645920"/>
            <a:ext cx="0" cy="0"/>
          </a:xfrm>
          <a:prstGeom prst="line">
            <a:avLst/>
          </a:prstGeom>
          <a:noFill/>
          <a:ln w="12700">
            <a:solidFill>
              <a:srgbClr val="0060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198864" y="13807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6064"/>
                </a:solidFill>
              </a:rPr>
              <a:t>▲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326880" y="1380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0060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</a:t>
            </a:r>
            <a:endParaRPr lang="en-US" sz="600" dirty="0"/>
          </a:p>
          <a:p>
            <a:pPr marL="0" indent="0">
              <a:buNone/>
            </a:pPr>
            <a:r>
              <a:rPr lang="en-US" sz="600" i="1" dirty="0">
                <a:solidFill>
                  <a:srgbClr val="0060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user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202277" y="1343983"/>
            <a:ext cx="1883664" cy="219456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321040" y="1353312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321040" y="1353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503920" y="133502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Q&amp;A output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078992" y="3108960"/>
            <a:ext cx="2011680" cy="859536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78992" y="3108960"/>
            <a:ext cx="20116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152144" y="3182112"/>
            <a:ext cx="1883664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Parser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152144" y="3538728"/>
            <a:ext cx="1883664" cy="39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validation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Payload assembly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291840" y="3108960"/>
            <a:ext cx="2011680" cy="859536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91840" y="3108960"/>
            <a:ext cx="20116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364992" y="3182112"/>
            <a:ext cx="1883664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364992" y="3538728"/>
            <a:ext cx="1883664" cy="39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Orange Book 5×5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Non-linear escalation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522976" y="3108960"/>
            <a:ext cx="2011680" cy="859536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522976" y="3108960"/>
            <a:ext cx="20116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596128" y="3182112"/>
            <a:ext cx="1883664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596128" y="3538728"/>
            <a:ext cx="1883664" cy="39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Likelihood × Impact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categories  ·  weights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754112" y="3108960"/>
            <a:ext cx="2011680" cy="859536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754112" y="3108960"/>
            <a:ext cx="20116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827264" y="3182112"/>
            <a:ext cx="1883664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827264" y="3538728"/>
            <a:ext cx="1883664" cy="39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Threshold gate/ </a:t>
            </a:r>
            <a:r>
              <a:rPr lang="en-GB" sz="700" dirty="0">
                <a:solidFill>
                  <a:srgbClr val="546E7A"/>
                </a:solidFill>
                <a:latin typeface="Calibri Light" pitchFamily="34" charset="0"/>
                <a:cs typeface="Calibri Light" pitchFamily="34" charset="-120"/>
              </a:rPr>
              <a:t>Policy-configured thresholds (version-controlled)</a:t>
            </a:r>
            <a:endParaRPr lang="en-US" sz="700" dirty="0">
              <a:solidFill>
                <a:srgbClr val="546E7A"/>
              </a:solidFill>
              <a:latin typeface="Calibri Light" pitchFamily="34" charset="0"/>
              <a:cs typeface="Calibri Light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Approved / Conditions / Blocked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108960" y="3538728"/>
            <a:ext cx="164592" cy="0"/>
          </a:xfrm>
          <a:prstGeom prst="line">
            <a:avLst/>
          </a:prstGeom>
          <a:noFill/>
          <a:ln w="1524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182112" y="34747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71C1C"/>
                </a:solidFill>
              </a:rPr>
              <a:t>►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5321808" y="3538728"/>
            <a:ext cx="182880" cy="0"/>
          </a:xfrm>
          <a:prstGeom prst="line">
            <a:avLst/>
          </a:prstGeom>
          <a:noFill/>
          <a:ln w="1524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413248" y="34747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71C1C"/>
                </a:solidFill>
              </a:rPr>
              <a:t>►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7552944" y="3538728"/>
            <a:ext cx="182880" cy="0"/>
          </a:xfrm>
          <a:prstGeom prst="line">
            <a:avLst/>
          </a:prstGeom>
          <a:noFill/>
          <a:ln w="1524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644384" y="34747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71C1C"/>
                </a:solidFill>
              </a:rPr>
              <a:t>►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269480" y="2596896"/>
            <a:ext cx="0" cy="201168"/>
          </a:xfrm>
          <a:prstGeom prst="line">
            <a:avLst/>
          </a:prstGeom>
          <a:noFill/>
          <a:ln w="1524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205472" y="270662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6064"/>
                </a:solidFill>
              </a:rPr>
              <a:t>▼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7159752" y="25961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0060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answers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3366298" y="3022092"/>
            <a:ext cx="1901952" cy="219456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3383280" y="2816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3420330" y="301532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700" b="1" dirty="0">
                <a:solidFill>
                  <a:srgbClr val="E65100"/>
                </a:solidFill>
                <a:latin typeface="Calibri" pitchFamily="34" charset="0"/>
                <a:cs typeface="Calibri" pitchFamily="34" charset="-120"/>
              </a:rPr>
              <a:t>Reviewer override with justification and audit trail</a:t>
            </a:r>
            <a:endParaRPr lang="en-US" sz="700" b="1" dirty="0">
              <a:solidFill>
                <a:srgbClr val="E6510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1078992" y="4279392"/>
            <a:ext cx="2377440" cy="768096"/>
          </a:xfrm>
          <a:prstGeom prst="rect">
            <a:avLst/>
          </a:prstGeom>
          <a:solidFill>
            <a:srgbClr val="E8F5E9"/>
          </a:solidFill>
          <a:ln w="1016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078992" y="4279392"/>
            <a:ext cx="2377440" cy="45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152144" y="4352544"/>
            <a:ext cx="22494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Layer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1152144" y="4663440"/>
            <a:ext cx="2249424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tier assigned  ·  Rules triggered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 plan (Appendix IV)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730752" y="4279392"/>
            <a:ext cx="2377440" cy="768096"/>
          </a:xfrm>
          <a:prstGeom prst="rect">
            <a:avLst/>
          </a:prstGeom>
          <a:solidFill>
            <a:srgbClr val="E8F5E9"/>
          </a:solidFill>
          <a:ln w="1016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730752" y="4279392"/>
            <a:ext cx="2377440" cy="45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803904" y="4352544"/>
            <a:ext cx="22494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 / Output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3803904" y="4663440"/>
            <a:ext cx="2249424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tier  ·  Gate decision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export  ·  Dashboard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345936" y="4334256"/>
            <a:ext cx="1481328" cy="201168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345936" y="43342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Approved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345936" y="4572000"/>
            <a:ext cx="1481328" cy="201168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345936" y="457200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Conditions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345936" y="4809744"/>
            <a:ext cx="1481328" cy="201168"/>
          </a:xfrm>
          <a:prstGeom prst="rect">
            <a:avLst/>
          </a:prstGeom>
          <a:solidFill>
            <a:srgbClr val="FFEBEE"/>
          </a:solidFill>
          <a:ln w="889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345936" y="48097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Blocked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9784080" y="3538728"/>
            <a:ext cx="0" cy="0"/>
          </a:xfrm>
          <a:prstGeom prst="line">
            <a:avLst/>
          </a:prstGeom>
          <a:noFill/>
          <a:ln w="1524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346704" y="34747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5E20"/>
                </a:solidFill>
              </a:rPr>
              <a:t>►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6153912" y="339242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3474720" y="4663440"/>
            <a:ext cx="237744" cy="0"/>
          </a:xfrm>
          <a:prstGeom prst="line">
            <a:avLst/>
          </a:prstGeom>
          <a:noFill/>
          <a:ln w="1524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621024" y="45994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5E20"/>
                </a:solidFill>
              </a:rPr>
              <a:t>►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3136392" y="4517136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6126480" y="4663440"/>
            <a:ext cx="182880" cy="0"/>
          </a:xfrm>
          <a:prstGeom prst="line">
            <a:avLst/>
          </a:prstGeom>
          <a:noFill/>
          <a:ln w="1524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6217920" y="45994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5E20"/>
                </a:solidFill>
              </a:rPr>
              <a:t>►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3657600" y="3968496"/>
            <a:ext cx="1737360" cy="219456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694176" y="3986784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694176" y="39867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3877056" y="396849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required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78992" y="5321808"/>
            <a:ext cx="3017520" cy="420624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1078992" y="5321808"/>
            <a:ext cx="301752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1152144" y="537667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1152144" y="555955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GDPR-compliant  ·  Immutable record  ·  Blob / S3 archive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4297680" y="5321808"/>
            <a:ext cx="3017520" cy="420624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297680" y="5321808"/>
            <a:ext cx="301752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4370832" y="537667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/ CloudWatch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4370832" y="555955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Telemetry  ·  Alerting  ·  KQL / CloudWatch Logs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7516368" y="5321808"/>
            <a:ext cx="3017520" cy="420624"/>
          </a:xfrm>
          <a:prstGeom prst="rect">
            <a:avLst/>
          </a:prstGeom>
          <a:solidFill>
            <a:srgbClr val="FFF3E0"/>
          </a:solidFill>
          <a:ln w="889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7516368" y="5321808"/>
            <a:ext cx="301752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7589520" y="537667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&amp; Drift Detection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7589520" y="555955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Periodic review  ·  Incident-triggered  ·  Feedback loop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0" y="6547104"/>
            <a:ext cx="12161520" cy="0"/>
          </a:xfrm>
          <a:prstGeom prst="line">
            <a:avLst/>
          </a:prstGeom>
          <a:noFill/>
          <a:ln w="508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128016" y="6583680"/>
            <a:ext cx="1190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Risk Assessment System  ·  Enterprise Cloud Architecture  ·  UK Gov Governance Aligned  ·  v1.0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6052"/>
            <a:ext cx="12161520" cy="411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AI Risk Assessment Assistant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System Architecture 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DEF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Risk Mgmt Toolkit  ·  Orange Book Aligned  ·  Production Grade  ·  v2.0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9728" y="493776"/>
            <a:ext cx="1956816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9377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12264" y="493776"/>
            <a:ext cx="1444752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12264" y="49377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02736" y="493776"/>
            <a:ext cx="3310128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2736" y="49377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INTERFACE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958584" y="493776"/>
            <a:ext cx="219456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8584" y="493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BASED LOGIC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198864" y="493776"/>
            <a:ext cx="2852928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98864" y="49377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DECISIONS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" y="758952"/>
            <a:ext cx="1956816" cy="4480560"/>
          </a:xfrm>
          <a:prstGeom prst="rect">
            <a:avLst/>
          </a:prstGeom>
          <a:solidFill>
            <a:srgbClr val="EBF3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12264" y="758952"/>
            <a:ext cx="1444752" cy="4480560"/>
          </a:xfrm>
          <a:prstGeom prst="rect">
            <a:avLst/>
          </a:prstGeom>
          <a:solidFill>
            <a:srgbClr val="E0F5F1"/>
          </a:solidFill>
          <a:ln w="6350">
            <a:solidFill>
              <a:srgbClr val="C0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02736" y="758952"/>
            <a:ext cx="3310128" cy="4480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58584" y="758952"/>
            <a:ext cx="2194560" cy="4480560"/>
          </a:xfrm>
          <a:prstGeom prst="rect">
            <a:avLst/>
          </a:prstGeom>
          <a:solidFill>
            <a:srgbClr val="F0EBF8"/>
          </a:solidFill>
          <a:ln w="6350">
            <a:solidFill>
              <a:srgbClr val="D0C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98864" y="758952"/>
            <a:ext cx="2852928" cy="4480560"/>
          </a:xfrm>
          <a:prstGeom prst="rect">
            <a:avLst/>
          </a:prstGeom>
          <a:solidFill>
            <a:srgbClr val="EBF5EB"/>
          </a:solidFill>
          <a:ln w="6350">
            <a:solidFill>
              <a:srgbClr val="C0D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2024" y="809244"/>
            <a:ext cx="1792224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2024" y="809244"/>
            <a:ext cx="50292" cy="14264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464" y="882396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Bias Compliance Tool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" y="1129284"/>
            <a:ext cx="1627632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" y="1175004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4 base diagnostic questions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83464" y="1435608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Escalation trigger logic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83464" y="1696212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Risk tier assignment rules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3464" y="1956816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CI/CD deployment gates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2024" y="2286000"/>
            <a:ext cx="1792224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2024" y="2286000"/>
            <a:ext cx="50292" cy="14264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3464" y="2359152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AI Advice Summary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" y="2606040"/>
            <a:ext cx="1627632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3464" y="2651760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Appendix I — 9 risk categories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3464" y="2912364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Appendix II — Risk appetite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83464" y="3172968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Appendix IV — Treatments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83464" y="3433572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UK Orange Book framework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92024" y="3762756"/>
            <a:ext cx="1792224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92024" y="3762756"/>
            <a:ext cx="50292" cy="1426464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83590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Workbook v1.0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3464" y="4082796"/>
            <a:ext cx="1627632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83464" y="4128516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5-tier severity (VL → VH)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83464" y="4389120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Likelihood × Impact (1–5)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83464" y="4649724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RACI ownership matrix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83464" y="4910328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 Pre/post-treatment scoring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185416" y="786384"/>
            <a:ext cx="1298448" cy="84582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FD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185416" y="786384"/>
            <a:ext cx="1298448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67712" y="868680"/>
            <a:ext cx="1170432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Page index chunking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67712" y="1251585"/>
            <a:ext cx="1170432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by page &amp; section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33726" y="1639519"/>
            <a:ext cx="914" cy="42977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185416" y="1682496"/>
            <a:ext cx="1298448" cy="84582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FD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185416" y="1682496"/>
            <a:ext cx="1298448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67712" y="1764792"/>
            <a:ext cx="1170432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Vector embedding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67712" y="2147697"/>
            <a:ext cx="1170432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encoding layer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833726" y="2535631"/>
            <a:ext cx="914" cy="42977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185416" y="2578608"/>
            <a:ext cx="1298448" cy="84582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FD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185416" y="2578608"/>
            <a:ext cx="1298448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67712" y="2660904"/>
            <a:ext cx="1170432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Similarity retrieval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67712" y="3043809"/>
            <a:ext cx="1170432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Top-k match per category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833726" y="3431743"/>
            <a:ext cx="914" cy="42977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185416" y="3474720"/>
            <a:ext cx="1298448" cy="84582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FD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185416" y="3474720"/>
            <a:ext cx="1298448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267712" y="3557016"/>
            <a:ext cx="1170432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mapping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267712" y="3939921"/>
            <a:ext cx="1170432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Mapped to 9 risk domains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833726" y="4327855"/>
            <a:ext cx="914" cy="42977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185416" y="4370832"/>
            <a:ext cx="1298448" cy="84582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FD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185416" y="4370832"/>
            <a:ext cx="1298448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267712" y="4453128"/>
            <a:ext cx="1170432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 injection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267712" y="4836033"/>
            <a:ext cx="1170432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Inserted into LLM prompt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675888" y="773582"/>
            <a:ext cx="3163824" cy="610819"/>
          </a:xfrm>
          <a:prstGeom prst="rect">
            <a:avLst/>
          </a:prstGeom>
          <a:solidFill>
            <a:srgbClr val="DBEAFE"/>
          </a:solidFill>
          <a:ln w="3810">
            <a:solidFill>
              <a:srgbClr val="1D4ED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75888" y="773582"/>
            <a:ext cx="246888" cy="610819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75888" y="77358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968496" y="81930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Intake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968496" y="105455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name · audience type · deployment date · RACI owner assignment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75888" y="1413662"/>
            <a:ext cx="3163824" cy="610819"/>
          </a:xfrm>
          <a:prstGeom prst="rect">
            <a:avLst/>
          </a:prstGeom>
          <a:solidFill>
            <a:srgbClr val="D1FAE5"/>
          </a:solidFill>
          <a:ln w="3810">
            <a:solidFill>
              <a:srgbClr val="065F4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675888" y="1413662"/>
            <a:ext cx="246888" cy="610819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75888" y="141366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968496" y="145938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Risk Pre-screen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968496" y="169463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Protected classes · public scale · external exposure · internal → starting tier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75888" y="2053742"/>
            <a:ext cx="3163824" cy="610819"/>
          </a:xfrm>
          <a:prstGeom prst="rect">
            <a:avLst/>
          </a:prstGeom>
          <a:solidFill>
            <a:srgbClr val="EDE9FE"/>
          </a:solidFill>
          <a:ln w="3810">
            <a:solidFill>
              <a:srgbClr val="5B21B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675888" y="2053742"/>
            <a:ext cx="246888" cy="610819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675888" y="205374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968496" y="209946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9-Category Q&amp;A via RAG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968496" y="233471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retrieves top 3–4 Qs from Appendix I per domain · LLM drives conversational capture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675888" y="2693822"/>
            <a:ext cx="3163824" cy="610819"/>
          </a:xfrm>
          <a:prstGeom prst="rect">
            <a:avLst/>
          </a:prstGeom>
          <a:solidFill>
            <a:srgbClr val="FEF3C7"/>
          </a:solidFill>
          <a:ln w="3810">
            <a:solidFill>
              <a:srgbClr val="92400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3675888" y="2693822"/>
            <a:ext cx="246888" cy="610819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675888" y="269382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968496" y="273954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 Check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968496" y="297479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Non-linear rules: protected class → High · political → Very High · no HiL → Very High (</a:t>
            </a:r>
            <a:r>
              <a:rPr lang="en-US" sz="750" b="1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in the loop necessary)z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675888" y="3333902"/>
            <a:ext cx="3163824" cy="610819"/>
          </a:xfrm>
          <a:prstGeom prst="rect">
            <a:avLst/>
          </a:prstGeom>
          <a:solidFill>
            <a:srgbClr val="DCFCE7"/>
          </a:solidFill>
          <a:ln w="3810">
            <a:solidFill>
              <a:srgbClr val="16653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75888" y="3333902"/>
            <a:ext cx="246888" cy="610819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75888" y="333390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968496" y="337962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Calibration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968496" y="361487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Averse / Minimal / Cautious / Open / Eager — threshold set per risk category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675888" y="3973982"/>
            <a:ext cx="3163824" cy="610819"/>
          </a:xfrm>
          <a:prstGeom prst="rect">
            <a:avLst/>
          </a:prstGeom>
          <a:solidFill>
            <a:srgbClr val="E2E8F0"/>
          </a:solidFill>
          <a:ln w="3810">
            <a:solidFill>
              <a:srgbClr val="33415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675888" y="3973982"/>
            <a:ext cx="246888" cy="6108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675888" y="397398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968496" y="401970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× Impact Scoring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3968496" y="425495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category scored 1–5 × 1–5 = risk score. Pre-treatment baseline logged to register.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675888" y="4614062"/>
            <a:ext cx="3163824" cy="610819"/>
          </a:xfrm>
          <a:prstGeom prst="rect">
            <a:avLst/>
          </a:prstGeom>
          <a:solidFill>
            <a:srgbClr val="F5F3FF"/>
          </a:solidFill>
          <a:ln w="3810">
            <a:solidFill>
              <a:srgbClr val="4C1D9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3675888" y="4614062"/>
            <a:ext cx="246888" cy="610819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675888" y="4614062"/>
            <a:ext cx="2468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3968496" y="4659782"/>
            <a:ext cx="2825496" cy="26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 Projection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3968496" y="4895039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Appendix IV mitigations applied → post-treatment scores per lifecycle stage (Discovery→Live)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031736" y="778154"/>
            <a:ext cx="2048256" cy="1081735"/>
          </a:xfrm>
          <a:prstGeom prst="rect">
            <a:avLst/>
          </a:prstGeom>
          <a:solidFill>
            <a:srgbClr val="FFFFFF"/>
          </a:solidFill>
          <a:ln w="10160">
            <a:solidFill>
              <a:srgbClr val="5E35B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031736" y="778154"/>
            <a:ext cx="47549" cy="1081735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123176" y="84216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123176" y="1089050"/>
            <a:ext cx="1883664" cy="0"/>
          </a:xfrm>
          <a:prstGeom prst="line">
            <a:avLst/>
          </a:prstGeom>
          <a:noFill/>
          <a:ln w="6350">
            <a:solidFill>
              <a:srgbClr val="E8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7123176" y="1143914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Responsible: Data Teams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123176" y="1322908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Accountable: AI Governance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7123176" y="1501902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Consulted: AI Developers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123176" y="1680896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Informed: Legal / Security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031736" y="1898294"/>
            <a:ext cx="2048256" cy="1081735"/>
          </a:xfrm>
          <a:prstGeom prst="rect">
            <a:avLst/>
          </a:prstGeom>
          <a:solidFill>
            <a:srgbClr val="FFFFFF"/>
          </a:solidFill>
          <a:ln w="10160">
            <a:solidFill>
              <a:srgbClr val="0277B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7031736" y="1898294"/>
            <a:ext cx="47549" cy="1081735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123176" y="196230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Scoring Grid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123176" y="2209190"/>
            <a:ext cx="1883664" cy="0"/>
          </a:xfrm>
          <a:prstGeom prst="line">
            <a:avLst/>
          </a:prstGeom>
          <a:noFill/>
          <a:ln w="6350">
            <a:solidFill>
              <a:srgbClr val="E8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123176" y="2264054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VH likelihood + VH severity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123176" y="2443048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 → Very High risk rating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123176" y="2622042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Moderate × Mod → Moderate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7123176" y="2801036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Orange Book matrix aligned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7031736" y="3018434"/>
            <a:ext cx="2048256" cy="1081735"/>
          </a:xfrm>
          <a:prstGeom prst="rect">
            <a:avLst/>
          </a:prstGeom>
          <a:solidFill>
            <a:srgbClr val="FFFFFF"/>
          </a:solidFill>
          <a:ln w="10160">
            <a:solidFill>
              <a:srgbClr val="BF360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7031736" y="3018434"/>
            <a:ext cx="47549" cy="1081735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8421624" y="3082442"/>
            <a:ext cx="621792" cy="1554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8421624" y="308244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550" dirty="0"/>
          </a:p>
        </p:txBody>
      </p:sp>
      <p:sp>
        <p:nvSpPr>
          <p:cNvPr id="124" name="Text 122"/>
          <p:cNvSpPr/>
          <p:nvPr/>
        </p:nvSpPr>
        <p:spPr>
          <a:xfrm>
            <a:off x="7123176" y="308244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Escalation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123176" y="3329330"/>
            <a:ext cx="1883664" cy="0"/>
          </a:xfrm>
          <a:prstGeom prst="line">
            <a:avLst/>
          </a:prstGeom>
          <a:noFill/>
          <a:ln w="6350">
            <a:solidFill>
              <a:srgbClr val="E8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7123176" y="3384194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Protected class → HIGH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7123176" y="3563188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Political content → VERY HIGH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7123176" y="3742182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No human-in-loop → VERY HIGH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7123176" y="3921176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Ceiling cap: VERY HIGH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7031736" y="4138574"/>
            <a:ext cx="2048256" cy="1081735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031736" y="4138574"/>
            <a:ext cx="47549" cy="108173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8421624" y="4202582"/>
            <a:ext cx="621792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8421624" y="420258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550" dirty="0"/>
          </a:p>
        </p:txBody>
      </p:sp>
      <p:sp>
        <p:nvSpPr>
          <p:cNvPr id="134" name="Text 132"/>
          <p:cNvSpPr/>
          <p:nvPr/>
        </p:nvSpPr>
        <p:spPr>
          <a:xfrm>
            <a:off x="7123176" y="42025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Based Weighting 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7123176" y="4449470"/>
            <a:ext cx="1883664" cy="0"/>
          </a:xfrm>
          <a:prstGeom prst="line">
            <a:avLst/>
          </a:prstGeom>
          <a:noFill/>
          <a:ln w="6350">
            <a:solidFill>
              <a:srgbClr val="E8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7123176" y="4504334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Public apps → fairness priority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7123176" y="4683328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Internal tools → robustness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7123176" y="4862322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Regulated domains → legal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7123176" y="5041316"/>
            <a:ext cx="1883664" cy="17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Weights set per tool type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9281160" y="82296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Assessment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9281160" y="1060704"/>
            <a:ext cx="2688336" cy="2606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9354312" y="1060704"/>
            <a:ext cx="123663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10571561" y="1060704"/>
            <a:ext cx="1344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EC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Halt — too risky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9281160" y="1346911"/>
            <a:ext cx="2688336" cy="260604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9354312" y="1346911"/>
            <a:ext cx="123663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10571561" y="1346911"/>
            <a:ext cx="1344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EC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 controls reqd.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9281160" y="1633118"/>
            <a:ext cx="2688336" cy="2606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9354312" y="1633118"/>
            <a:ext cx="123663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10571561" y="1633118"/>
            <a:ext cx="1344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EC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Treatment actions reqd.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9281160" y="1919326"/>
            <a:ext cx="2688336" cy="2606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9354312" y="1919326"/>
            <a:ext cx="123663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10571561" y="1919326"/>
            <a:ext cx="1344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EC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mitigations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9281160" y="2205533"/>
            <a:ext cx="2688336" cy="26060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9354312" y="2205533"/>
            <a:ext cx="123663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10571561" y="2205533"/>
            <a:ext cx="1344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EC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to proceed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9281160" y="2555748"/>
            <a:ext cx="2688336" cy="0"/>
          </a:xfrm>
          <a:prstGeom prst="line">
            <a:avLst/>
          </a:prstGeom>
          <a:noFill/>
          <a:ln w="7620">
            <a:solidFill>
              <a:srgbClr val="C8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1530584" y="2619756"/>
            <a:ext cx="402336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11530584" y="2619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00" dirty="0"/>
          </a:p>
        </p:txBody>
      </p:sp>
      <p:sp>
        <p:nvSpPr>
          <p:cNvPr id="159" name="Text 157"/>
          <p:cNvSpPr/>
          <p:nvPr/>
        </p:nvSpPr>
        <p:spPr>
          <a:xfrm>
            <a:off x="9281160" y="26197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Decision Gate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9281160" y="2857500"/>
            <a:ext cx="2688336" cy="228600"/>
          </a:xfrm>
          <a:prstGeom prst="rect">
            <a:avLst/>
          </a:prstGeom>
          <a:solidFill>
            <a:srgbClr val="2E7D32">
              <a:alpha val="8000"/>
            </a:srgbClr>
          </a:solidFill>
          <a:ln w="1016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9354312" y="290779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9537192" y="2857500"/>
            <a:ext cx="139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10786628" y="2857500"/>
            <a:ext cx="1129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thresholds met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281160" y="3113532"/>
            <a:ext cx="2688336" cy="228600"/>
          </a:xfrm>
          <a:prstGeom prst="rect">
            <a:avLst/>
          </a:prstGeom>
          <a:solidFill>
            <a:srgbClr val="E65100">
              <a:alpha val="8000"/>
            </a:srgbClr>
          </a:solidFill>
          <a:ln w="1016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9354312" y="3163824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9537192" y="3113532"/>
            <a:ext cx="139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with Conditions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10786628" y="3113532"/>
            <a:ext cx="1129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Mitigations documented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9281160" y="3369564"/>
            <a:ext cx="2688336" cy="228600"/>
          </a:xfrm>
          <a:prstGeom prst="rect">
            <a:avLst/>
          </a:prstGeom>
          <a:solidFill>
            <a:srgbClr val="C62828">
              <a:alpha val="800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9354312" y="3419856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9537192" y="3369564"/>
            <a:ext cx="139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10786628" y="3369564"/>
            <a:ext cx="1129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Fails compliance threshold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281160" y="3689604"/>
            <a:ext cx="2688336" cy="0"/>
          </a:xfrm>
          <a:prstGeom prst="line">
            <a:avLst/>
          </a:prstGeom>
          <a:noFill/>
          <a:ln w="7620">
            <a:solidFill>
              <a:srgbClr val="C8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1530584" y="3753612"/>
            <a:ext cx="402336" cy="1828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11530584" y="375361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00" dirty="0"/>
          </a:p>
        </p:txBody>
      </p:sp>
      <p:sp>
        <p:nvSpPr>
          <p:cNvPr id="175" name="Shape 173"/>
          <p:cNvSpPr/>
          <p:nvPr/>
        </p:nvSpPr>
        <p:spPr>
          <a:xfrm>
            <a:off x="9281160" y="3753612"/>
            <a:ext cx="2688336" cy="201168"/>
          </a:xfrm>
          <a:prstGeom prst="rect">
            <a:avLst/>
          </a:prstGeom>
          <a:solidFill>
            <a:srgbClr val="E8EAF6"/>
          </a:solidFill>
          <a:ln w="762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9281160" y="375361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Explanation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9336024" y="3991356"/>
            <a:ext cx="2596896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949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 Why risk tier was assigned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9336024" y="4395216"/>
            <a:ext cx="2596896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949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 Triggered rules listed</a:t>
            </a:r>
            <a:endParaRPr lang="en-US" sz="750" dirty="0"/>
          </a:p>
        </p:txBody>
      </p:sp>
      <p:sp>
        <p:nvSpPr>
          <p:cNvPr id="179" name="Text 177"/>
          <p:cNvSpPr/>
          <p:nvPr/>
        </p:nvSpPr>
        <p:spPr>
          <a:xfrm>
            <a:off x="9336024" y="4799076"/>
            <a:ext cx="2596896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949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 Category-wise reasoning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2075688" y="2999232"/>
            <a:ext cx="27432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3566160" y="2999232"/>
            <a:ext cx="27432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6922008" y="2871216"/>
            <a:ext cx="27432" cy="0"/>
          </a:xfrm>
          <a:prstGeom prst="line">
            <a:avLst/>
          </a:prstGeom>
          <a:noFill/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6922008" y="3127248"/>
            <a:ext cx="27432" cy="0"/>
          </a:xfrm>
          <a:prstGeom prst="line">
            <a:avLst/>
          </a:prstGeom>
          <a:noFill/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62288" y="2999232"/>
            <a:ext cx="27432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09728" y="5303520"/>
            <a:ext cx="11942064" cy="621792"/>
          </a:xfrm>
          <a:prstGeom prst="rect">
            <a:avLst/>
          </a:prstGeom>
          <a:solidFill>
            <a:srgbClr val="FFFBF0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09728" y="5303520"/>
            <a:ext cx="2029968" cy="62179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7" name="Text 185"/>
          <p:cNvSpPr/>
          <p:nvPr/>
        </p:nvSpPr>
        <p:spPr>
          <a:xfrm>
            <a:off x="128016" y="5461528"/>
            <a:ext cx="192024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2231136" y="5358384"/>
            <a:ext cx="2345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2231136" y="5577840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Full Q&amp;A transcript</a:t>
            </a:r>
            <a:endParaRPr lang="en-US" sz="750" dirty="0"/>
          </a:p>
        </p:txBody>
      </p:sp>
      <p:sp>
        <p:nvSpPr>
          <p:cNvPr id="191" name="Text 189"/>
          <p:cNvSpPr/>
          <p:nvPr/>
        </p:nvSpPr>
        <p:spPr>
          <a:xfrm>
            <a:off x="2231136" y="5681472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Per-category capture</a:t>
            </a:r>
            <a:endParaRPr lang="en-US" sz="750" dirty="0"/>
          </a:p>
        </p:txBody>
      </p:sp>
      <p:sp>
        <p:nvSpPr>
          <p:cNvPr id="192" name="Text 190"/>
          <p:cNvSpPr/>
          <p:nvPr/>
        </p:nvSpPr>
        <p:spPr>
          <a:xfrm>
            <a:off x="2231136" y="5785104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Session timestamped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4613148" y="5376672"/>
            <a:ext cx="0" cy="475488"/>
          </a:xfrm>
          <a:prstGeom prst="line">
            <a:avLst/>
          </a:prstGeom>
          <a:noFill/>
          <a:ln w="6350">
            <a:solidFill>
              <a:srgbClr val="F0C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4668012" y="5358384"/>
            <a:ext cx="2345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Triggered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4668012" y="5577840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Escalation rule ID</a:t>
            </a:r>
            <a:endParaRPr lang="en-US" sz="750" dirty="0"/>
          </a:p>
        </p:txBody>
      </p:sp>
      <p:sp>
        <p:nvSpPr>
          <p:cNvPr id="196" name="Text 194"/>
          <p:cNvSpPr/>
          <p:nvPr/>
        </p:nvSpPr>
        <p:spPr>
          <a:xfrm>
            <a:off x="4668012" y="5681472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Threshold breached</a:t>
            </a:r>
            <a:endParaRPr lang="en-US" sz="750" dirty="0"/>
          </a:p>
        </p:txBody>
      </p:sp>
      <p:sp>
        <p:nvSpPr>
          <p:cNvPr id="197" name="Text 195"/>
          <p:cNvSpPr/>
          <p:nvPr/>
        </p:nvSpPr>
        <p:spPr>
          <a:xfrm>
            <a:off x="4668012" y="5785104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Override audit trail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7050024" y="5376672"/>
            <a:ext cx="0" cy="475488"/>
          </a:xfrm>
          <a:prstGeom prst="line">
            <a:avLst/>
          </a:prstGeom>
          <a:noFill/>
          <a:ln w="6350">
            <a:solidFill>
              <a:srgbClr val="F0C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7104888" y="5358384"/>
            <a:ext cx="2345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Assigned</a:t>
            </a:r>
            <a:endParaRPr lang="en-US" sz="800" dirty="0"/>
          </a:p>
        </p:txBody>
      </p:sp>
      <p:sp>
        <p:nvSpPr>
          <p:cNvPr id="200" name="Text 198"/>
          <p:cNvSpPr/>
          <p:nvPr/>
        </p:nvSpPr>
        <p:spPr>
          <a:xfrm>
            <a:off x="7104888" y="5577840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Likelihood &amp; impact</a:t>
            </a:r>
            <a:endParaRPr lang="en-US" sz="750" dirty="0"/>
          </a:p>
        </p:txBody>
      </p:sp>
      <p:sp>
        <p:nvSpPr>
          <p:cNvPr id="201" name="Text 199"/>
          <p:cNvSpPr/>
          <p:nvPr/>
        </p:nvSpPr>
        <p:spPr>
          <a:xfrm>
            <a:off x="7104888" y="5681472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Weighted risk rating</a:t>
            </a:r>
            <a:endParaRPr lang="en-US" sz="750" dirty="0"/>
          </a:p>
        </p:txBody>
      </p:sp>
      <p:sp>
        <p:nvSpPr>
          <p:cNvPr id="202" name="Text 200"/>
          <p:cNvSpPr/>
          <p:nvPr/>
        </p:nvSpPr>
        <p:spPr>
          <a:xfrm>
            <a:off x="7104888" y="5785104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Pre vs post scores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9486900" y="5376672"/>
            <a:ext cx="0" cy="475488"/>
          </a:xfrm>
          <a:prstGeom prst="line">
            <a:avLst/>
          </a:prstGeom>
          <a:noFill/>
          <a:ln w="6350">
            <a:solidFill>
              <a:srgbClr val="F0C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9541764" y="5358384"/>
            <a:ext cx="2345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Storage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9541764" y="5577840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GDPR-compliant log</a:t>
            </a:r>
            <a:endParaRPr lang="en-US" sz="750" dirty="0"/>
          </a:p>
        </p:txBody>
      </p:sp>
      <p:sp>
        <p:nvSpPr>
          <p:cNvPr id="206" name="Text 204"/>
          <p:cNvSpPr/>
          <p:nvPr/>
        </p:nvSpPr>
        <p:spPr>
          <a:xfrm>
            <a:off x="9541764" y="5681472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Immutable audit record</a:t>
            </a:r>
            <a:endParaRPr lang="en-US" sz="750" dirty="0"/>
          </a:p>
        </p:txBody>
      </p:sp>
      <p:sp>
        <p:nvSpPr>
          <p:cNvPr id="207" name="Text 205"/>
          <p:cNvSpPr/>
          <p:nvPr/>
        </p:nvSpPr>
        <p:spPr>
          <a:xfrm>
            <a:off x="9541764" y="5785104"/>
            <a:ext cx="2345436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▸ Audit-ready export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109728" y="5980176"/>
            <a:ext cx="11942064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109728" y="5980176"/>
            <a:ext cx="2029968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128016" y="5980176"/>
            <a:ext cx="192024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Loop</a:t>
            </a:r>
            <a:endParaRPr lang="en-US" sz="900" dirty="0"/>
          </a:p>
        </p:txBody>
      </p:sp>
      <p:sp>
        <p:nvSpPr>
          <p:cNvPr id="211" name="Text 209"/>
          <p:cNvSpPr/>
          <p:nvPr/>
        </p:nvSpPr>
        <p:spPr>
          <a:xfrm>
            <a:off x="128016" y="6296193"/>
            <a:ext cx="1920240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CD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Lifecycle Reassessment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2231136" y="60350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Drift Detection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2231136" y="623620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 process ctrl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4626864" y="6044184"/>
            <a:ext cx="0" cy="310896"/>
          </a:xfrm>
          <a:prstGeom prst="line">
            <a:avLst/>
          </a:prstGeom>
          <a:noFill/>
          <a:ln w="6350">
            <a:solidFill>
              <a:srgbClr val="F0B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/>
          <p:nvPr/>
        </p:nvSpPr>
        <p:spPr>
          <a:xfrm>
            <a:off x="4672584" y="60350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Periodic Re-evaluation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4672584" y="623620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Scheduled re-assessment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7068312" y="6044184"/>
            <a:ext cx="0" cy="310896"/>
          </a:xfrm>
          <a:prstGeom prst="line">
            <a:avLst/>
          </a:prstGeom>
          <a:noFill/>
          <a:ln w="6350">
            <a:solidFill>
              <a:srgbClr val="F0B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7114032" y="60350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Incident-triggered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7114032" y="623620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Auto-trigger on bias alert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9509760" y="6044184"/>
            <a:ext cx="0" cy="310896"/>
          </a:xfrm>
          <a:prstGeom prst="line">
            <a:avLst/>
          </a:prstGeom>
          <a:noFill/>
          <a:ln w="6350">
            <a:solidFill>
              <a:srgbClr val="F0B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9"/>
          <p:cNvSpPr/>
          <p:nvPr/>
        </p:nvSpPr>
        <p:spPr>
          <a:xfrm>
            <a:off x="9555480" y="6035040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Feedback → Engine</a:t>
            </a:r>
            <a:endParaRPr lang="en-US" sz="850" dirty="0"/>
          </a:p>
        </p:txBody>
      </p:sp>
      <p:sp>
        <p:nvSpPr>
          <p:cNvPr id="222" name="Text 220"/>
          <p:cNvSpPr/>
          <p:nvPr/>
        </p:nvSpPr>
        <p:spPr>
          <a:xfrm>
            <a:off x="9555480" y="623620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 to Conversation Eng.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109728" y="6464808"/>
            <a:ext cx="11942064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164592" y="657453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223"/>
          <p:cNvSpPr/>
          <p:nvPr/>
        </p:nvSpPr>
        <p:spPr>
          <a:xfrm>
            <a:off x="292608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Bias Tool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1938528" y="6574536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225"/>
          <p:cNvSpPr/>
          <p:nvPr/>
        </p:nvSpPr>
        <p:spPr>
          <a:xfrm>
            <a:off x="2066544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 Advice Summary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3712464" y="6574536"/>
            <a:ext cx="91440" cy="9144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227"/>
          <p:cNvSpPr/>
          <p:nvPr/>
        </p:nvSpPr>
        <p:spPr>
          <a:xfrm>
            <a:off x="3840480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Risk Workbook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5486400" y="6574536"/>
            <a:ext cx="91440" cy="914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229"/>
          <p:cNvSpPr/>
          <p:nvPr/>
        </p:nvSpPr>
        <p:spPr>
          <a:xfrm>
            <a:off x="5614416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Rules ↔ Engine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7260336" y="6574536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231"/>
          <p:cNvSpPr/>
          <p:nvPr/>
        </p:nvSpPr>
        <p:spPr>
          <a:xfrm>
            <a:off x="7388352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loop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9034272" y="6574536"/>
            <a:ext cx="91440" cy="9144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Text 233"/>
          <p:cNvSpPr/>
          <p:nvPr/>
        </p:nvSpPr>
        <p:spPr>
          <a:xfrm>
            <a:off x="9162288" y="654710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logging</a:t>
            </a:r>
            <a:endParaRPr lang="en-US" sz="750" dirty="0"/>
          </a:p>
        </p:txBody>
      </p:sp>
      <p:sp>
        <p:nvSpPr>
          <p:cNvPr id="236" name="Text 234"/>
          <p:cNvSpPr/>
          <p:nvPr/>
        </p:nvSpPr>
        <p:spPr>
          <a:xfrm>
            <a:off x="10515600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Classification: OFFICIAL  ·  UK Gov Orange Book  ·  NIST AI RMF  ·  v2.0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899</Words>
  <Application>Microsoft Macintosh PowerPoint</Application>
  <PresentationFormat>Widescreen</PresentationFormat>
  <Paragraphs>230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Bias Compliance Chatbot — Architecture v2.0</dc:title>
  <dc:subject>PptxGenJS Presentation</dc:subject>
  <dc:creator>PptxGenJS</dc:creator>
  <cp:lastModifiedBy>Savitha Thangavel</cp:lastModifiedBy>
  <cp:revision>3</cp:revision>
  <dcterms:created xsi:type="dcterms:W3CDTF">2026-03-26T18:52:40Z</dcterms:created>
  <dcterms:modified xsi:type="dcterms:W3CDTF">2026-03-27T15:23:03Z</dcterms:modified>
</cp:coreProperties>
</file>